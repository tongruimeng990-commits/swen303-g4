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583680" cy="1417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0312" y="201168"/>
            <a:ext cx="6163056" cy="13770864"/>
          </a:xfrm>
          <a:prstGeom prst="roundRect">
            <a:avLst>
              <a:gd name="adj" fmla="val 4500"/>
            </a:avLst>
          </a:prstGeom>
          <a:solidFill>
            <a:srgbClr val="202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704088"/>
            <a:ext cx="1005840" cy="1143000"/>
          </a:xfrm>
          <a:prstGeom prst="roundRect">
            <a:avLst/>
          </a:prstGeom>
          <a:solidFill>
            <a:srgbClr val="365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5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7000"/>
              </a:lnSpc>
              <a:spcAft>
                <a:spcPts val="0"/>
              </a:spcAft>
              <a:defRPr sz="3400" b="0">
                <a:solidFill>
                  <a:srgbClr val="D9ECE1"/>
                </a:solidFill>
                <a:latin typeface="DejaVu Sans"/>
              </a:defRPr>
            </a:pPr>
            <a: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768096"/>
            <a:ext cx="4069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3200" b="0">
                <a:solidFill>
                  <a:srgbClr val="F1F4EF"/>
                </a:solidFill>
                <a:latin typeface="DejaVu Sans"/>
              </a:defRPr>
            </a:pPr>
            <a:r>
              <a:t>Iris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92807" y="140817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600" b="0">
                <a:solidFill>
                  <a:srgbClr val="87C6A3"/>
                </a:solidFill>
                <a:latin typeface="DejaVu Sans"/>
              </a:defRPr>
            </a:pPr>
            <a:r>
              <a:t>The Selective Participant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92807" y="1819656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850" b="0">
                <a:solidFill>
                  <a:srgbClr val="A2B1A7"/>
                </a:solidFill>
                <a:latin typeface="DejaVu Sans"/>
              </a:defRPr>
            </a:pPr>
            <a:r>
              <a:t>22 YEARS 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50592"/>
            <a:ext cx="5303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2200" b="0">
                <a:solidFill>
                  <a:srgbClr val="F1F4EF"/>
                </a:solidFill>
                <a:latin typeface="DejaVu Sans"/>
              </a:defRPr>
            </a:pPr>
            <a:r>
              <a:t>“I'm trying to find clubs</a:t>
            </a:r>
          </a:p>
          <a:p>
            <a:pPr>
              <a:lnSpc>
                <a:spcPct val="117000"/>
              </a:lnSpc>
              <a:spcAft>
                <a:spcPts val="0"/>
              </a:spcAft>
              <a:defRPr sz="2200" b="0">
                <a:solidFill>
                  <a:srgbClr val="F1F4EF"/>
                </a:solidFill>
                <a:latin typeface="DejaVu Sans"/>
              </a:defRPr>
            </a:pPr>
            <a:r>
              <a:t>that I can go to”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23944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100" b="0">
                <a:solidFill>
                  <a:srgbClr val="87C6A3"/>
                </a:solidFill>
                <a:latin typeface="DejaVu Sans"/>
              </a:defRPr>
            </a:pPr>
            <a:r>
              <a:t>ABOUT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59"/>
            <a:ext cx="5303520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639" b="0">
                <a:solidFill>
                  <a:srgbClr val="D9DFD9"/>
                </a:solidFill>
                <a:latin typeface="DejaVu Sans"/>
              </a:defRPr>
            </a:pPr>
            <a:r>
              <a:t>22-year-old Wellington student in the final year of two degrees. Attends a folk music club, enjoys singing and dancing, and fits activities around study and other commitments.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44768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100" b="0">
                <a:solidFill>
                  <a:srgbClr val="87C6A3"/>
                </a:solidFill>
                <a:latin typeface="DejaVu Sans"/>
              </a:defRPr>
            </a:pPr>
            <a:r>
              <a:t>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3"/>
            <a:ext cx="5303520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639" b="0">
                <a:solidFill>
                  <a:srgbClr val="D9DFD9"/>
                </a:solidFill>
                <a:latin typeface="DejaVu Sans"/>
              </a:defRPr>
            </a:pPr>
            <a:r>
              <a:t>Visible times and locations; advance session details; clear experience requirements; a way to find activities she can attend.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7827264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100" b="0">
                <a:solidFill>
                  <a:srgbClr val="87C6A3"/>
                </a:solidFill>
                <a:latin typeface="DejaVu Sans"/>
              </a:defRPr>
            </a:pPr>
            <a:r>
              <a:t>PAIN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8183880"/>
            <a:ext cx="5303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639" b="0">
                <a:solidFill>
                  <a:srgbClr val="D9DFD9"/>
                </a:solidFill>
                <a:latin typeface="DejaVu Sans"/>
              </a:defRPr>
            </a:pPr>
            <a:r>
              <a:t>• Timetable clashes</a:t>
            </a:r>
          </a:p>
          <a:p>
            <a:pPr>
              <a:lnSpc>
                <a:spcPct val="117000"/>
              </a:lnSpc>
              <a:spcAft>
                <a:spcPts val="0"/>
              </a:spcAft>
              <a:defRPr sz="1639" b="0">
                <a:solidFill>
                  <a:srgbClr val="D9DFD9"/>
                </a:solidFill>
                <a:latin typeface="DejaVu Sans"/>
              </a:defRPr>
            </a:pPr>
            <a:r>
              <a:t>• Missing meeting details</a:t>
            </a:r>
          </a:p>
          <a:p>
            <a:pPr>
              <a:lnSpc>
                <a:spcPct val="117000"/>
              </a:lnSpc>
              <a:spcAft>
                <a:spcPts val="0"/>
              </a:spcAft>
              <a:defRPr sz="1639" b="0">
                <a:solidFill>
                  <a:srgbClr val="D9DFD9"/>
                </a:solidFill>
                <a:latin typeface="DejaVu Sans"/>
              </a:defRPr>
            </a:pPr>
            <a:r>
              <a:t>• Unclear beginner expectations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9564624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100" b="0">
                <a:solidFill>
                  <a:srgbClr val="87C6A3"/>
                </a:solidFill>
                <a:latin typeface="DejaVu Sans"/>
              </a:defRPr>
            </a:pPr>
            <a:r>
              <a:t>TRAITS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9921240"/>
            <a:ext cx="530352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639" b="0">
                <a:solidFill>
                  <a:srgbClr val="D9DFD9"/>
                </a:solidFill>
                <a:latin typeface="DejaVu Sans"/>
              </a:defRPr>
            </a:pPr>
            <a:r>
              <a:t>Talkative in discussions / Prefers in-person contact / Selective about sessions / Adjusts plans for valued activities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1119104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100" b="0">
                <a:solidFill>
                  <a:srgbClr val="87C6A3"/>
                </a:solidFill>
                <a:latin typeface="DejaVu Sans"/>
              </a:defRPr>
            </a:pPr>
            <a:r>
              <a:t>GOALS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1475720"/>
            <a:ext cx="5303520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639" b="0">
                <a:solidFill>
                  <a:srgbClr val="D9DFD9"/>
                </a:solidFill>
                <a:latin typeface="DejaVu Sans"/>
              </a:defRPr>
            </a:pPr>
            <a:r>
              <a:t>Attend activities she values, maintain social connections, and make informed choices about when to join or skip a week.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28473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910" b="0">
                <a:solidFill>
                  <a:srgbClr val="A7C5B5"/>
                </a:solidFill>
                <a:latin typeface="DejaVu Sans"/>
              </a:defRPr>
            </a:pPr>
            <a:r>
              <a:t>Find a time · Check the fit · Check updates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0312" y="201168"/>
            <a:ext cx="6163056" cy="13770864"/>
          </a:xfrm>
          <a:prstGeom prst="roundRect">
            <a:avLst>
              <a:gd name="adj" fmla="val 4500"/>
            </a:avLst>
          </a:prstGeom>
          <a:solidFill>
            <a:srgbClr val="202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704088"/>
            <a:ext cx="1005840" cy="1143000"/>
          </a:xfrm>
          <a:prstGeom prst="roundRect">
            <a:avLst/>
          </a:prstGeom>
          <a:solidFill>
            <a:srgbClr val="365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5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7000"/>
              </a:lnSpc>
              <a:spcAft>
                <a:spcPts val="0"/>
              </a:spcAft>
              <a:defRPr sz="3400" b="0">
                <a:solidFill>
                  <a:srgbClr val="D9ECE1"/>
                </a:solidFill>
                <a:latin typeface="DejaVu Sans"/>
              </a:defRPr>
            </a:pPr>
            <a:r>
              <a:t>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768096"/>
            <a:ext cx="4069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3200" b="0">
                <a:solidFill>
                  <a:srgbClr val="F1F4EF"/>
                </a:solidFill>
                <a:latin typeface="DejaVu Sans"/>
              </a:defRPr>
            </a:pPr>
            <a:r>
              <a:t>Trent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92807" y="140817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600" b="0">
                <a:solidFill>
                  <a:srgbClr val="87C6A3"/>
                </a:solidFill>
                <a:latin typeface="DejaVu Sans"/>
              </a:defRPr>
            </a:pPr>
            <a:r>
              <a:t>The Advance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92807" y="1819656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850" b="0">
                <a:solidFill>
                  <a:srgbClr val="A2B1A7"/>
                </a:solidFill>
                <a:latin typeface="DejaVu Sans"/>
              </a:defRPr>
            </a:pPr>
            <a:r>
              <a:t>28 YEARS 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50592"/>
            <a:ext cx="5303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2200" b="0">
                <a:solidFill>
                  <a:srgbClr val="F1F4EF"/>
                </a:solidFill>
                <a:latin typeface="DejaVu Sans"/>
              </a:defRPr>
            </a:pPr>
            <a:r>
              <a:t>“Just practical information, really.”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23944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100" b="0">
                <a:solidFill>
                  <a:srgbClr val="87C6A3"/>
                </a:solidFill>
                <a:latin typeface="DejaVu Sans"/>
              </a:defRPr>
            </a:pPr>
            <a:r>
              <a:t>ABOUT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59"/>
            <a:ext cx="5303520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639" b="0">
                <a:solidFill>
                  <a:srgbClr val="D9DFD9"/>
                </a:solidFill>
                <a:latin typeface="DejaVu Sans"/>
              </a:defRPr>
            </a:pPr>
            <a:r>
              <a:t>28-year-old third-year software engineering student with music study and retail experience. Plans club participation before the trimester and warms up through repeated contact.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44768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100" b="0">
                <a:solidFill>
                  <a:srgbClr val="87C6A3"/>
                </a:solidFill>
                <a:latin typeface="DejaVu Sans"/>
              </a:defRPr>
            </a:pPr>
            <a:r>
              <a:t>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3"/>
            <a:ext cx="5303520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639" b="0">
                <a:solidFill>
                  <a:srgbClr val="D9DFD9"/>
                </a:solidFill>
                <a:latin typeface="DejaVu Sans"/>
              </a:defRPr>
            </a:pPr>
            <a:r>
              <a:t>Published schedules; clear joining steps; stable beginner resources; details accessible without Instagram; control over personal disclosure.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7827264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100" b="0">
                <a:solidFill>
                  <a:srgbClr val="87C6A3"/>
                </a:solidFill>
                <a:latin typeface="DejaVu Sans"/>
              </a:defRPr>
            </a:pPr>
            <a:r>
              <a:t>PAIN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8183880"/>
            <a:ext cx="5303520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639" b="0">
                <a:solidFill>
                  <a:srgbClr val="D9DFD9"/>
                </a:solidFill>
                <a:latin typeface="DejaVu Sans"/>
              </a:defRPr>
            </a:pPr>
            <a:r>
              <a:t>• Uncertain weekly arrangements</a:t>
            </a:r>
          </a:p>
          <a:p>
            <a:pPr>
              <a:lnSpc>
                <a:spcPct val="117000"/>
              </a:lnSpc>
              <a:spcAft>
                <a:spcPts val="0"/>
              </a:spcAft>
              <a:defRPr sz="1639" b="0">
                <a:solidFill>
                  <a:srgbClr val="D9DFD9"/>
                </a:solidFill>
                <a:latin typeface="DejaVu Sans"/>
              </a:defRPr>
            </a:pPr>
            <a:r>
              <a:t>• Study clashes</a:t>
            </a:r>
          </a:p>
          <a:p>
            <a:pPr>
              <a:lnSpc>
                <a:spcPct val="117000"/>
              </a:lnSpc>
              <a:spcAft>
                <a:spcPts val="0"/>
              </a:spcAft>
              <a:defRPr sz="1639" b="0">
                <a:solidFill>
                  <a:srgbClr val="D9DFD9"/>
                </a:solidFill>
                <a:latin typeface="DejaVu Sans"/>
              </a:defRPr>
            </a:pPr>
            <a:r>
              <a:t>• Important information is hard to find in old chat messages.</a:t>
            </a:r>
          </a:p>
          <a:p>
            <a:pPr>
              <a:lnSpc>
                <a:spcPct val="117000"/>
              </a:lnSpc>
              <a:spcAft>
                <a:spcPts val="0"/>
              </a:spcAft>
              <a:defRPr sz="1639" b="0">
                <a:solidFill>
                  <a:srgbClr val="D9DFD9"/>
                </a:solidFill>
                <a:latin typeface="DejaVu Sans"/>
              </a:defRPr>
            </a:pPr>
            <a:r>
              <a:t>• Concern about public-profile pressure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9564624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100" b="0">
                <a:solidFill>
                  <a:srgbClr val="87C6A3"/>
                </a:solidFill>
                <a:latin typeface="DejaVu Sans"/>
              </a:defRPr>
            </a:pPr>
            <a:r>
              <a:t>TRAITS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9921240"/>
            <a:ext cx="530352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639" b="0">
                <a:solidFill>
                  <a:srgbClr val="D9DFD9"/>
                </a:solidFill>
                <a:latin typeface="DejaVu Sans"/>
              </a:defRPr>
            </a:pPr>
            <a:r>
              <a:t>Plans ahead / Browses before choosing / Warms up over time / Selective about online disclosure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1119104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100" b="0">
                <a:solidFill>
                  <a:srgbClr val="87C6A3"/>
                </a:solidFill>
                <a:latin typeface="DejaVu Sans"/>
              </a:defRPr>
            </a:pPr>
            <a:r>
              <a:t>GOALS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1475720"/>
            <a:ext cx="5303520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639" b="0">
                <a:solidFill>
                  <a:srgbClr val="D9DFD9"/>
                </a:solidFill>
                <a:latin typeface="DejaVu Sans"/>
              </a:defRPr>
            </a:pPr>
            <a:r>
              <a:t>Choose activities that fit his timetable, prepare for a first visit, and stay involved without unnecessary searching or disclosure.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28473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910" b="0">
                <a:solidFill>
                  <a:srgbClr val="A7C5B5"/>
                </a:solidFill>
                <a:latin typeface="DejaVu Sans"/>
              </a:defRPr>
            </a:pPr>
            <a:r>
              <a:t>Find a time · Plan a visit · Check updates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0312" y="201168"/>
            <a:ext cx="6163056" cy="13770864"/>
          </a:xfrm>
          <a:prstGeom prst="roundRect">
            <a:avLst>
              <a:gd name="adj" fmla="val 4500"/>
            </a:avLst>
          </a:prstGeom>
          <a:solidFill>
            <a:srgbClr val="202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704088"/>
            <a:ext cx="1005840" cy="1143000"/>
          </a:xfrm>
          <a:prstGeom prst="roundRect">
            <a:avLst/>
          </a:prstGeom>
          <a:solidFill>
            <a:srgbClr val="365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5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7000"/>
              </a:lnSpc>
              <a:spcAft>
                <a:spcPts val="0"/>
              </a:spcAft>
              <a:defRPr sz="3400" b="0">
                <a:solidFill>
                  <a:srgbClr val="D9ECE1"/>
                </a:solidFill>
                <a:latin typeface="DejaVu Sans"/>
              </a:defRPr>
            </a:pPr>
            <a:r>
              <a:t>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768096"/>
            <a:ext cx="4069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3200" b="0">
                <a:solidFill>
                  <a:srgbClr val="F1F4EF"/>
                </a:solidFill>
                <a:latin typeface="DejaVu Sans"/>
              </a:defRPr>
            </a:pPr>
            <a:r>
              <a:t>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92807" y="140817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600" b="0">
                <a:solidFill>
                  <a:srgbClr val="87C6A3"/>
                </a:solidFill>
                <a:latin typeface="DejaVu Sans"/>
              </a:defRPr>
            </a:pPr>
            <a:r>
              <a:t>The Social Explorer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92807" y="1819656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850" b="0">
                <a:solidFill>
                  <a:srgbClr val="A2B1A7"/>
                </a:solidFill>
                <a:latin typeface="DejaVu Sans"/>
              </a:defRPr>
            </a:pPr>
            <a:r>
              <a:t>21 YEARS 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50592"/>
            <a:ext cx="5303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2200" b="0">
                <a:solidFill>
                  <a:srgbClr val="F1F4EF"/>
                </a:solidFill>
                <a:latin typeface="DejaVu Sans"/>
              </a:defRPr>
            </a:pPr>
            <a:r>
              <a:t>“Even just the people there can make any environment enjoyable”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23944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100" b="0">
                <a:solidFill>
                  <a:srgbClr val="87C6A3"/>
                </a:solidFill>
                <a:latin typeface="DejaVu Sans"/>
              </a:defRPr>
            </a:pPr>
            <a:r>
              <a:t>ABOUT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59"/>
            <a:ext cx="5303520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639" b="0">
                <a:solidFill>
                  <a:srgbClr val="D9DFD9"/>
                </a:solidFill>
                <a:latin typeface="DejaVu Sans"/>
              </a:defRPr>
            </a:pPr>
            <a:r>
              <a:t>21-year-old university student interested in dance, music, fashion and sport. Has served as a class representative and tried several clubs, often through friends.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44768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100" b="0">
                <a:solidFill>
                  <a:srgbClr val="87C6A3"/>
                </a:solidFill>
                <a:latin typeface="DejaVu Sans"/>
              </a:defRPr>
            </a:pPr>
            <a:r>
              <a:t>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3"/>
            <a:ext cx="5303520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639" b="0">
                <a:solidFill>
                  <a:srgbClr val="D9DFD9"/>
                </a:solidFill>
                <a:latin typeface="DejaVu Sans"/>
              </a:defRPr>
            </a:pPr>
            <a:r>
              <a:t>More visual context for the activity; clear time, place and joining information; opportunities to attend with familiar people.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7827264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100" b="0">
                <a:solidFill>
                  <a:srgbClr val="87C6A3"/>
                </a:solidFill>
                <a:latin typeface="DejaVu Sans"/>
              </a:defRPr>
            </a:pPr>
            <a:r>
              <a:t>PAIN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8183880"/>
            <a:ext cx="5303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639" b="0">
                <a:solidFill>
                  <a:srgbClr val="D9DFD9"/>
                </a:solidFill>
                <a:latin typeface="DejaVu Sans"/>
              </a:defRPr>
            </a:pPr>
            <a:r>
              <a:t>• Unexciting visual presentation</a:t>
            </a:r>
          </a:p>
          <a:p>
            <a:pPr>
              <a:lnSpc>
                <a:spcPct val="117000"/>
              </a:lnSpc>
              <a:spcAft>
                <a:spcPts val="0"/>
              </a:spcAft>
              <a:defRPr sz="1639" b="0">
                <a:solidFill>
                  <a:srgbClr val="D9DFD9"/>
                </a:solidFill>
                <a:latin typeface="DejaVu Sans"/>
              </a:defRPr>
            </a:pPr>
            <a:r>
              <a:t>• Searching feels less natural than asking friends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9564624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100" b="0">
                <a:solidFill>
                  <a:srgbClr val="87C6A3"/>
                </a:solidFill>
                <a:latin typeface="DejaVu Sans"/>
              </a:defRPr>
            </a:pPr>
            <a:r>
              <a:t>TRAITS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9921240"/>
            <a:ext cx="530352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639" b="0">
                <a:solidFill>
                  <a:srgbClr val="D9DFD9"/>
                </a:solidFill>
                <a:latin typeface="DejaVu Sans"/>
              </a:defRPr>
            </a:pPr>
            <a:r>
              <a:t>Starts conversations / Values shared company / Has varied interests / Open to different backgrounds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1119104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100" b="0">
                <a:solidFill>
                  <a:srgbClr val="87C6A3"/>
                </a:solidFill>
                <a:latin typeface="DejaVu Sans"/>
              </a:defRPr>
            </a:pPr>
            <a:r>
              <a:t>GOALS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1475720"/>
            <a:ext cx="5303520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1639" b="0">
                <a:solidFill>
                  <a:srgbClr val="D9DFD9"/>
                </a:solidFill>
                <a:latin typeface="DejaVu Sans"/>
              </a:defRPr>
            </a:pPr>
            <a:r>
              <a:t>Get a clear first impression, enjoy activities with friends, and discover new interests through welcoming shared experiences.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28473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7000"/>
              </a:lnSpc>
              <a:spcAft>
                <a:spcPts val="0"/>
              </a:spcAft>
              <a:defRPr sz="910" b="0">
                <a:solidFill>
                  <a:srgbClr val="A7C5B5"/>
                </a:solidFill>
                <a:latin typeface="DejaVu Sans"/>
              </a:defRPr>
            </a:pPr>
            <a:r>
              <a:t>Check the fit · Plan a visit · Explore an invite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Club participation — provisional personas</dc:title>
  <dc:subject/>
  <dc:creator>Raymond — research working draft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